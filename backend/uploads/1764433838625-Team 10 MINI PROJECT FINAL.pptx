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9" r:id="rId5"/>
    <p:sldId id="282" r:id="rId6"/>
    <p:sldId id="266" r:id="rId7"/>
    <p:sldId id="283" r:id="rId8"/>
    <p:sldId id="284" r:id="rId9"/>
    <p:sldId id="262" r:id="rId10"/>
    <p:sldId id="274" r:id="rId11"/>
    <p:sldId id="287" r:id="rId12"/>
    <p:sldId id="285" r:id="rId13"/>
    <p:sldId id="286" r:id="rId14"/>
    <p:sldId id="281" r:id="rId15"/>
    <p:sldId id="261" r:id="rId16"/>
    <p:sldId id="290" r:id="rId17"/>
    <p:sldId id="289" r:id="rId18"/>
    <p:sldId id="272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JhyRDWFtHZWG1m85CvGfwfSE6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12D7A4-42EB-4607-BF0B-5DD1E57776B8}">
  <a:tblStyle styleId="{8D12D7A4-42EB-4607-BF0B-5DD1E57776B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95" autoAdjust="0"/>
  </p:normalViewPr>
  <p:slideViewPr>
    <p:cSldViewPr snapToGrid="0">
      <p:cViewPr varScale="1">
        <p:scale>
          <a:sx n="74" d="100"/>
          <a:sy n="74" d="100"/>
        </p:scale>
        <p:origin x="164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F5EFB412-7BD7-E891-C9CC-C8E61FFF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>
            <a:extLst>
              <a:ext uri="{FF2B5EF4-FFF2-40B4-BE49-F238E27FC236}">
                <a16:creationId xmlns:a16="http://schemas.microsoft.com/office/drawing/2014/main" id="{07F5E757-B96E-FBA4-6892-EF170095E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>
            <a:extLst>
              <a:ext uri="{FF2B5EF4-FFF2-40B4-BE49-F238E27FC236}">
                <a16:creationId xmlns:a16="http://schemas.microsoft.com/office/drawing/2014/main" id="{272A62A1-9941-C5D5-16F7-8A7CD0DC9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85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486C2244-38DB-A9AD-1B8C-086A23AC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>
            <a:extLst>
              <a:ext uri="{FF2B5EF4-FFF2-40B4-BE49-F238E27FC236}">
                <a16:creationId xmlns:a16="http://schemas.microsoft.com/office/drawing/2014/main" id="{8C87DAFE-FBD8-C98E-9F21-3D246E31DF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10:notes">
            <a:extLst>
              <a:ext uri="{FF2B5EF4-FFF2-40B4-BE49-F238E27FC236}">
                <a16:creationId xmlns:a16="http://schemas.microsoft.com/office/drawing/2014/main" id="{E1BA7C71-1DE7-68B8-4BF2-58FE9383C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9638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18D92D3-E14C-707C-CA84-A721784D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EEB9C45C-6052-683B-3DCC-F0359126F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297A6AAB-F0E6-436E-7485-FFD0565589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110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12C05455-36D7-4F19-2768-882F0059A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123DDA09-F75E-2A49-C732-3FB77CD4C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49EB7EF6-9894-1B84-1D22-008DACBB9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274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F5B91FBD-3561-BD21-D22B-DAB53937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44F98C99-1D29-AF13-F812-0952D90F6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24A31788-7CA9-2580-A36C-D357B50EA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379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CAAC317A-DA6C-0C07-805A-95B2BD9E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>
            <a:extLst>
              <a:ext uri="{FF2B5EF4-FFF2-40B4-BE49-F238E27FC236}">
                <a16:creationId xmlns:a16="http://schemas.microsoft.com/office/drawing/2014/main" id="{2F5D1A8F-F76F-8864-08B5-C7399CEF7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>
            <a:extLst>
              <a:ext uri="{FF2B5EF4-FFF2-40B4-BE49-F238E27FC236}">
                <a16:creationId xmlns:a16="http://schemas.microsoft.com/office/drawing/2014/main" id="{6F51660C-96C4-7BE7-0A32-B02818FCE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9935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BF26506-8415-E42F-382F-74A058A2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7A5E13BA-2B7C-ABA4-CABA-D55150DF3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7C13390E-04E7-B4D1-A09B-D50115DE5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0785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5CA0088-CA6B-EF34-BDB8-0C39F09F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8BA3AA61-C5F2-3992-29EE-36C1D8B9D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79F95171-91D9-066B-9E05-8496A2A58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66662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8234ED-6B2E-4A81-B121-0453199AF91B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C0F35F-5CBE-4FEB-A38D-43F9763D150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235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97D7C4-490B-4440-A56D-9C6DCE8A5115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986CDC-4500-4391-ABF2-D076B636A88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831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D12D46-179D-4E3A-9733-982940EC9F51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5E6E9-5C6E-4E98-852C-2503105869B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50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33EB0-78A4-47E2-9F42-1C0A98E4A51B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C23775-3B87-4DBF-BBD0-BCF4DF1F5BA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99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187AB8-047C-4A90-997A-4C613F72C8E0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C3064-43C5-44C2-9B52-2DD6CE1F7B6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990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66EB24-E8F0-4B48-BBA3-45D60DDD91B4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37AB83-5928-4760-B285-2C5CFE8021F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295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E8C0EF-6FEF-455C-84AF-F96457202EF1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A8522-BEDF-4A74-8CA4-65FA3272740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520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42948-6C81-4109-A12F-14EDC2A3DDD6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555BE6-37F3-4D3C-B60B-551006D10FD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92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E1EA28-954D-4621-9663-8F9FEAD04021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89E3B-9C96-4982-BCA3-109272C4544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68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5C7FF-8D32-4E1B-ADE6-1C26868E2605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561E2D-6EF3-45C7-8D94-08389BE83CFB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606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D4C9F1-C088-442E-B090-1290BFB65EC9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B94609-A9AA-4B32-AC70-0AD3CD94FF1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2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DA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1ABD5B-BE5F-4A93-98F9-732B631D653A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314268-5A6D-4543-83C9-9D48CA86290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1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bioengineering1207068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508.12778" TargetMode="External"/><Relationship Id="rId4" Type="http://schemas.openxmlformats.org/officeDocument/2006/relationships/hyperlink" Target="https://doi.org/10.18653/v1/2025.acl-long.1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0" y="1295400"/>
            <a:ext cx="9144000" cy="5562600"/>
          </a:xfrm>
          <a:prstGeom prst="rect">
            <a:avLst/>
          </a:prstGeom>
          <a:blipFill rotWithShape="1">
            <a:blip r:embed="rId3">
              <a:alphaModFix amt="40000"/>
            </a:blip>
            <a:stretch>
              <a:fillRect/>
            </a:stretch>
          </a:blip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2014840"/>
            <a:ext cx="7772400" cy="925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D0D0D"/>
              </a:buClr>
              <a:buSzPts val="4400"/>
            </a:pPr>
            <a:r>
              <a:rPr lang="it-IT" sz="3200" b="1" dirty="0"/>
              <a:t>Medicare -AI based Medical Assistant </a:t>
            </a:r>
            <a:endParaRPr lang="en-US" sz="3200" b="1"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401762" y="3203194"/>
            <a:ext cx="6400800" cy="124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GIDEON SAMUEL M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(2303917724421013)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NITHIN SUNDAR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KK (2303917724421036)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SRIKANTH M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(2303917724421055)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Guide: </a:t>
            </a:r>
            <a:r>
              <a:rPr lang="en-US" sz="24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Dr. M.K. KAVITHA DEVI </a:t>
            </a:r>
            <a:r>
              <a:rPr lang="en-US" sz="24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(Prof &amp; HOD)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Type of the Project: Product</a:t>
            </a:r>
            <a:endParaRPr sz="2400" dirty="0"/>
          </a:p>
        </p:txBody>
      </p:sp>
      <p:grpSp>
        <p:nvGrpSpPr>
          <p:cNvPr id="91" name="Google Shape;91;p1"/>
          <p:cNvGrpSpPr/>
          <p:nvPr/>
        </p:nvGrpSpPr>
        <p:grpSpPr>
          <a:xfrm>
            <a:off x="22224" y="152407"/>
            <a:ext cx="7902238" cy="984309"/>
            <a:chOff x="21771" y="152400"/>
            <a:chExt cx="7903028" cy="984900"/>
          </a:xfrm>
        </p:grpSpPr>
        <p:pic>
          <p:nvPicPr>
            <p:cNvPr id="92" name="Google Shape;92;p1" descr="Description: Description: tce_logo.png"/>
            <p:cNvPicPr preferRelativeResize="0"/>
            <p:nvPr/>
          </p:nvPicPr>
          <p:blipFill rotWithShape="1">
            <a:blip r:embed="rId4">
              <a:alphaModFix/>
            </a:blip>
            <a:srcRect b="2912"/>
            <a:stretch/>
          </p:blipFill>
          <p:spPr>
            <a:xfrm>
              <a:off x="21771" y="152400"/>
              <a:ext cx="983411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1"/>
            <p:cNvSpPr txBox="1"/>
            <p:nvPr/>
          </p:nvSpPr>
          <p:spPr>
            <a:xfrm>
              <a:off x="838199" y="152400"/>
              <a:ext cx="7086600" cy="9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mbria"/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THIAGARAJAR COLLEGE OF ENGINEERING, MADURAI-15</a:t>
              </a:r>
              <a:endPara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mbria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(A Govt. Aided Autonomous Institution affiliated to Anna University)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mbria"/>
                <a:buNone/>
              </a:pPr>
              <a:r>
                <a:rPr lang="en-US" sz="2000" b="1" i="1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                           - where quality and ethics matter</a:t>
              </a:r>
              <a:r>
                <a:rPr lang="en-US" sz="2000" b="0" i="0" u="none" strike="noStrike" cap="non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>
            <a:off x="0" y="1295400"/>
            <a:ext cx="91440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dist="20000" dir="5400000">
              <a:srgbClr val="000000">
                <a:alpha val="37254"/>
              </a:srgbClr>
            </a:outerShdw>
          </a:effectLst>
        </p:spPr>
      </p:cxnSp>
      <p:sp>
        <p:nvSpPr>
          <p:cNvPr id="95" name="Google Shape;95;p1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154362" y="64929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C:\Users\Admin\Pictures\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27334" y="211873"/>
            <a:ext cx="809364" cy="8920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8650" indent="-514350" algn="just">
              <a:buFont typeface="+mj-lt"/>
              <a:buAutoNum type="arabicPeriod"/>
            </a:pPr>
            <a:r>
              <a:rPr lang="en-US" sz="2000" b="1" dirty="0"/>
              <a:t>Medicare</a:t>
            </a:r>
            <a:r>
              <a:rPr lang="en-US" sz="2000" dirty="0"/>
              <a:t> is an voice-enabled </a:t>
            </a:r>
            <a:r>
              <a:rPr lang="en-US" sz="2000" b="1" dirty="0"/>
              <a:t>RAG (Retrieval-Augmented Generation)</a:t>
            </a:r>
            <a:r>
              <a:rPr lang="en-US" sz="2000" dirty="0"/>
              <a:t> system that converts spoken medical queries into accurate and reliable responses.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2000" dirty="0"/>
              <a:t>It combines </a:t>
            </a:r>
            <a:r>
              <a:rPr lang="en-US" sz="2000" b="1" dirty="0"/>
              <a:t>Whisper</a:t>
            </a:r>
            <a:r>
              <a:rPr lang="en-US" sz="2000" dirty="0"/>
              <a:t> for high-precision speech-to-text, </a:t>
            </a:r>
            <a:r>
              <a:rPr lang="en-US" sz="2000" b="1" dirty="0"/>
              <a:t>FAISS</a:t>
            </a:r>
            <a:r>
              <a:rPr lang="en-US" sz="2000" dirty="0"/>
              <a:t> for rapid retrieval from curated medical datasets, and an </a:t>
            </a:r>
            <a:r>
              <a:rPr lang="en-US" sz="2000" b="1" dirty="0"/>
              <a:t>LLM</a:t>
            </a:r>
            <a:r>
              <a:rPr lang="en-US" sz="2000" dirty="0"/>
              <a:t> for generating context-aware answers grounded in real data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2000" dirty="0"/>
              <a:t>The system uses a </a:t>
            </a:r>
            <a:r>
              <a:rPr lang="en-US" sz="2000" b="1" dirty="0"/>
              <a:t>curated medical dataset</a:t>
            </a:r>
            <a:r>
              <a:rPr lang="en-US" sz="2000" dirty="0"/>
              <a:t> (symptoms, diseases, treatments, FAQs) stored locally for reliable and private retrieval, ensuring </a:t>
            </a:r>
            <a:r>
              <a:rPr lang="en-US" sz="2000" b="1" dirty="0"/>
              <a:t>higher accuracy</a:t>
            </a:r>
            <a:r>
              <a:rPr lang="en-US" sz="2000" dirty="0"/>
              <a:t> and reduced hallucination compared to standard LLM-only systems.</a:t>
            </a:r>
          </a:p>
          <a:p>
            <a:pPr marL="628650" indent="-514350" algn="just">
              <a:buFont typeface="+mj-lt"/>
              <a:buAutoNum type="arabicPeriod"/>
            </a:pPr>
            <a:r>
              <a:rPr lang="en-US" sz="2000" dirty="0"/>
              <a:t>Demonstrates a complete AI pipeline—speech input → retrieval → generation—showcasing end-to-end </a:t>
            </a:r>
            <a:r>
              <a:rPr lang="en-US" sz="2000" b="1" dirty="0"/>
              <a:t>multimodal AI integration</a:t>
            </a:r>
            <a:r>
              <a:rPr lang="en-US" sz="2000" dirty="0"/>
              <a:t>.</a:t>
            </a:r>
          </a:p>
          <a:p>
            <a:pPr marL="628650" indent="-514350">
              <a:buFont typeface="+mj-lt"/>
              <a:buAutoNum type="arabicPeriod"/>
            </a:pPr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pPr marL="628650" indent="-514350">
              <a:buFont typeface="+mj-lt"/>
              <a:buAutoNum type="arabicPeriod"/>
            </a:pPr>
            <a:endParaRPr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457200" y="152704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People often receive </a:t>
            </a:r>
            <a:r>
              <a:rPr lang="en-US" sz="2000" b="1" dirty="0"/>
              <a:t>inaccurate or generic medical answers</a:t>
            </a:r>
            <a:r>
              <a:rPr lang="en-US" sz="2000" dirty="0"/>
              <a:t> from normal AI models because they are not grounded in trusted medical data.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Many users need a </a:t>
            </a:r>
            <a:r>
              <a:rPr lang="en-US" sz="2000" b="1" dirty="0"/>
              <a:t>voice-based, easy-to-use system</a:t>
            </a:r>
            <a:r>
              <a:rPr lang="en-US" sz="2000" dirty="0"/>
              <a:t> to get reliable medical information, especially in urgent situations.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Existing tools </a:t>
            </a:r>
            <a:r>
              <a:rPr lang="en-US" sz="2000" b="1" dirty="0"/>
              <a:t>do not combine voice input, medical image analysis, and domain-specific knowledge retrieval</a:t>
            </a:r>
            <a:r>
              <a:rPr lang="en-US" sz="2000" dirty="0"/>
              <a:t>, making them incomplete for real-world use. Many platforms </a:t>
            </a:r>
            <a:r>
              <a:rPr lang="en-US" sz="2000" b="1" dirty="0"/>
              <a:t>lack a mechanism like RAG</a:t>
            </a:r>
            <a:r>
              <a:rPr lang="en-US" sz="2000" dirty="0"/>
              <a:t>, which ensures answers come from trusted medical datasets instead of model guesswork.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lvl="0" algn="just">
              <a:spcBef>
                <a:spcPts val="0"/>
              </a:spcBef>
              <a:buSzPts val="3200"/>
              <a:buFont typeface="Courier New" panose="02070309020205020404" pitchFamily="49" charset="0"/>
              <a:buChar char="o"/>
            </a:pPr>
            <a:r>
              <a:rPr lang="en-US" sz="2000" dirty="0"/>
              <a:t>A unified system like </a:t>
            </a:r>
            <a:r>
              <a:rPr lang="en-US" sz="2000" b="1" dirty="0"/>
              <a:t>Medicare</a:t>
            </a:r>
            <a:r>
              <a:rPr lang="en-US" sz="2000" dirty="0"/>
              <a:t> can bridge this gap by offering accessible, trustworthy, and context-rich medical responses.</a:t>
            </a:r>
          </a:p>
          <a:p>
            <a:pPr marL="0" lvl="0" indent="0" algn="just">
              <a:spcBef>
                <a:spcPts val="0"/>
              </a:spcBef>
              <a:buSzPts val="32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Develop a voice-enabled medical query system</a:t>
            </a:r>
            <a:r>
              <a:rPr lang="en-US" sz="2000" dirty="0"/>
              <a:t> that can understand user speech and convert it into meaningful text for further analysis.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Implement a RAG-based retrieval framework</a:t>
            </a:r>
            <a:r>
              <a:rPr lang="en-US" sz="2000" dirty="0"/>
              <a:t> that enhances response accuracy by grounding the system in curated medical datasets.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Integrate multimodal inputs</a:t>
            </a:r>
            <a:r>
              <a:rPr lang="en-US" sz="2000" dirty="0"/>
              <a:t>, enabling the system to use both text and image information for improved medical assessment and decision support.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Integrate Image Understanding</a:t>
            </a:r>
            <a:r>
              <a:rPr lang="en-US" sz="2000" dirty="0"/>
              <a:t> to support medical image-based queries (rashes, fractures, abnormalities).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b="1" dirty="0"/>
              <a:t>Provide Fast, User-Friendly Medical Information Access</a:t>
            </a:r>
            <a:r>
              <a:rPr lang="en-US" sz="2000" dirty="0"/>
              <a:t> using voice + image inputs on a single platform.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1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xfrm>
            <a:off x="467032" y="2287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Module description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EFFD4-E3E4-7DDB-227D-51FB5D00E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032" y="1556766"/>
            <a:ext cx="8229600" cy="4175440"/>
          </a:xfrm>
        </p:spPr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Voice Input Module : </a:t>
            </a:r>
            <a:r>
              <a:rPr lang="en-US" sz="2000" dirty="0"/>
              <a:t>This module captures the user’s </a:t>
            </a:r>
            <a:r>
              <a:rPr lang="en-US" sz="2000" b="1" dirty="0"/>
              <a:t>voice</a:t>
            </a:r>
            <a:r>
              <a:rPr lang="en-US" sz="2000" dirty="0"/>
              <a:t> and converts it into </a:t>
            </a:r>
            <a:r>
              <a:rPr lang="en-US" sz="2000" b="1" dirty="0"/>
              <a:t>text</a:t>
            </a:r>
            <a:r>
              <a:rPr lang="en-US" sz="2000" dirty="0"/>
              <a:t>, creating a clean query for the system. It acts as the starting point for all user interactions.</a:t>
            </a:r>
            <a:endParaRPr lang="en-US" sz="2000" b="1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Image Input Module : </a:t>
            </a:r>
            <a:r>
              <a:rPr lang="en-US" sz="2000" dirty="0"/>
              <a:t>Allows users to </a:t>
            </a:r>
            <a:r>
              <a:rPr lang="en-US" sz="2000" b="1" dirty="0"/>
              <a:t>upload medical images</a:t>
            </a:r>
            <a:r>
              <a:rPr lang="en-US" sz="2000" dirty="0"/>
              <a:t> (X rays, reports, scans) and extracts </a:t>
            </a:r>
            <a:r>
              <a:rPr lang="en-US" sz="2000" b="1" dirty="0"/>
              <a:t>important text or details</a:t>
            </a:r>
            <a:r>
              <a:rPr lang="en-US" sz="2000" dirty="0"/>
              <a:t> using </a:t>
            </a:r>
            <a:r>
              <a:rPr lang="en-US" sz="2000" dirty="0" err="1"/>
              <a:t>ResNet</a:t>
            </a:r>
            <a:r>
              <a:rPr lang="en-US" sz="2000" dirty="0"/>
              <a:t> and Yolo model for further analysis.</a:t>
            </a:r>
            <a:endParaRPr lang="en-US" sz="1400" b="1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Preprocessing Module: </a:t>
            </a:r>
            <a:r>
              <a:rPr lang="en-US" sz="2000" dirty="0"/>
              <a:t>The converted text is cleaned and transformed into </a:t>
            </a:r>
            <a:r>
              <a:rPr lang="en-US" sz="2000" b="1" dirty="0"/>
              <a:t>vector embeddings</a:t>
            </a:r>
            <a:r>
              <a:rPr lang="en-US" sz="2000" dirty="0"/>
              <a:t>. This prepares the query for fast and accurate retrieval.</a:t>
            </a:r>
            <a:endParaRPr lang="en-US" sz="2000" b="1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RAG Retrieval Module: </a:t>
            </a:r>
            <a:r>
              <a:rPr lang="en-US" sz="2000" dirty="0"/>
              <a:t>The system uses </a:t>
            </a:r>
            <a:r>
              <a:rPr lang="en-US" sz="2000" b="1" dirty="0"/>
              <a:t>FAISS</a:t>
            </a:r>
            <a:r>
              <a:rPr lang="en-US" sz="2000" dirty="0"/>
              <a:t> to search the </a:t>
            </a:r>
            <a:r>
              <a:rPr lang="en-US" sz="2000" b="1" dirty="0"/>
              <a:t>medical knowledge base</a:t>
            </a:r>
            <a:r>
              <a:rPr lang="en-US" sz="2000" dirty="0"/>
              <a:t> and fetch the most </a:t>
            </a:r>
            <a:r>
              <a:rPr lang="en-US" sz="2000" b="1" dirty="0"/>
              <a:t>relevant information</a:t>
            </a:r>
            <a:r>
              <a:rPr lang="en-US" sz="2000" dirty="0"/>
              <a:t>. These retrieved chunks give factual grounding to avoid hallucination</a:t>
            </a:r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.</a:t>
            </a:r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sz="2200" b="1" dirty="0"/>
              <a:t>LLM Generation Module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Output Module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Knowledge Base Module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BD06DCA4-9CF9-5830-4E1C-AC01B99A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>
            <a:extLst>
              <a:ext uri="{FF2B5EF4-FFF2-40B4-BE49-F238E27FC236}">
                <a16:creationId xmlns:a16="http://schemas.microsoft.com/office/drawing/2014/main" id="{C3B3FB96-B84C-ABC0-39EC-3210C060B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032" y="2287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Module description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0">
            <a:extLst>
              <a:ext uri="{FF2B5EF4-FFF2-40B4-BE49-F238E27FC236}">
                <a16:creationId xmlns:a16="http://schemas.microsoft.com/office/drawing/2014/main" id="{0C3B3CD2-D9C6-8695-7C2B-A3475590884D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>
            <a:extLst>
              <a:ext uri="{FF2B5EF4-FFF2-40B4-BE49-F238E27FC236}">
                <a16:creationId xmlns:a16="http://schemas.microsoft.com/office/drawing/2014/main" id="{79383DC2-6F1F-7DA5-402F-1EDA570923D0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>
            <a:extLst>
              <a:ext uri="{FF2B5EF4-FFF2-40B4-BE49-F238E27FC236}">
                <a16:creationId xmlns:a16="http://schemas.microsoft.com/office/drawing/2014/main" id="{EFB7B487-5444-765C-718A-13D64A385DE8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C18E4-B9F6-2DA2-704D-778CC27B0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032" y="1556766"/>
            <a:ext cx="8229600" cy="4175440"/>
          </a:xfrm>
        </p:spPr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LLM Generation Module </a:t>
            </a:r>
            <a:r>
              <a:rPr lang="en-US" sz="2000" dirty="0"/>
              <a:t>: The </a:t>
            </a:r>
            <a:r>
              <a:rPr lang="en-US" sz="2000" b="1" dirty="0"/>
              <a:t>LLM</a:t>
            </a:r>
            <a:r>
              <a:rPr lang="en-US" sz="2000" dirty="0"/>
              <a:t> combines the user query with the retrieved context to generate a </a:t>
            </a:r>
            <a:r>
              <a:rPr lang="en-US" sz="2000" b="1" dirty="0"/>
              <a:t>precise, medically reliable answer</a:t>
            </a:r>
            <a:r>
              <a:rPr lang="en-US" sz="2000" dirty="0"/>
              <a:t>. This module handles reasoning and response generation.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Output Module </a:t>
            </a:r>
            <a:r>
              <a:rPr lang="en-US" sz="2000" b="1" dirty="0"/>
              <a:t>: </a:t>
            </a:r>
            <a:r>
              <a:rPr lang="en-US" sz="2000" dirty="0"/>
              <a:t>The output module formats the final answer and presents it to the user. It can display the text on-screen and also convert it back into speech for voice-based interaction. This module ensures that the response is delivered clearly and efficiently.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b="1" dirty="0"/>
              <a:t>Knowledge Base Module </a:t>
            </a:r>
            <a:r>
              <a:rPr lang="en-US" sz="2000" dirty="0"/>
              <a:t>: All medical documents are stored as </a:t>
            </a:r>
            <a:r>
              <a:rPr lang="en-US" sz="2000" b="1" dirty="0"/>
              <a:t>chunks with embeddings</a:t>
            </a:r>
            <a:r>
              <a:rPr lang="en-US" sz="2000" dirty="0"/>
              <a:t> in a </a:t>
            </a:r>
            <a:r>
              <a:rPr lang="en-US" sz="2000" b="1" dirty="0"/>
              <a:t>FAISS index</a:t>
            </a:r>
            <a:r>
              <a:rPr lang="en-US" sz="2000" dirty="0"/>
              <a:t>, forming the system’s core knowledge. The knowledge base includes both </a:t>
            </a:r>
            <a:r>
              <a:rPr lang="en-US" sz="2000" b="1" dirty="0"/>
              <a:t>locally collected medical documents</a:t>
            </a:r>
            <a:r>
              <a:rPr lang="en-US" sz="2000" dirty="0"/>
              <a:t> (symptoms, diseases, prescriptions, treatment notes) and </a:t>
            </a:r>
            <a:r>
              <a:rPr lang="en-US" sz="2000" b="1" dirty="0"/>
              <a:t>trusted public sources like PubMed articles</a:t>
            </a:r>
            <a:r>
              <a:rPr lang="en-US" sz="2000" dirty="0"/>
              <a:t>, ensuring accurate and evidence-based retrieval.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583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712EAE2E-2537-0F76-FFB4-82BA741A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>
            <a:extLst>
              <a:ext uri="{FF2B5EF4-FFF2-40B4-BE49-F238E27FC236}">
                <a16:creationId xmlns:a16="http://schemas.microsoft.com/office/drawing/2014/main" id="{5EE67614-18B3-AC4B-5795-DC911E2D8A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032" y="2287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10">
            <a:extLst>
              <a:ext uri="{FF2B5EF4-FFF2-40B4-BE49-F238E27FC236}">
                <a16:creationId xmlns:a16="http://schemas.microsoft.com/office/drawing/2014/main" id="{AB17CC04-B798-5CD1-CF19-C2B84CE2F0C5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>
            <a:extLst>
              <a:ext uri="{FF2B5EF4-FFF2-40B4-BE49-F238E27FC236}">
                <a16:creationId xmlns:a16="http://schemas.microsoft.com/office/drawing/2014/main" id="{DE3D98B3-3579-B2FF-E0BA-60DA33880F20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>
            <a:extLst>
              <a:ext uri="{FF2B5EF4-FFF2-40B4-BE49-F238E27FC236}">
                <a16:creationId xmlns:a16="http://schemas.microsoft.com/office/drawing/2014/main" id="{751CA9D6-A4E2-1521-7F8D-3E4AB930EEE6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29EA2-BA63-93E2-7F61-DB57B1101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032" y="1556766"/>
            <a:ext cx="8229600" cy="4175440"/>
          </a:xfrm>
        </p:spPr>
        <p:txBody>
          <a:bodyPr/>
          <a:lstStyle/>
          <a:p>
            <a:pPr marL="114300" indent="0">
              <a:buNone/>
            </a:pPr>
            <a:endParaRPr lang="en-US" sz="20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27FEAD-A378-02C9-CF2F-46927A2F5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92" y="1724891"/>
            <a:ext cx="8650013" cy="375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70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Tools and Technologies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8"/>
          <p:cNvSpPr txBox="1">
            <a:spLocks noGrp="1"/>
          </p:cNvSpPr>
          <p:nvPr>
            <p:ph type="body" idx="1"/>
          </p:nvPr>
        </p:nvSpPr>
        <p:spPr>
          <a:xfrm>
            <a:off x="286512" y="1623943"/>
            <a:ext cx="8570976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lvl="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SOFTWARES</a:t>
            </a:r>
            <a:r>
              <a:rPr lang="en-IN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: </a:t>
            </a:r>
            <a:r>
              <a:rPr lang="en-US" sz="2000" dirty="0"/>
              <a:t>Python 3.x, </a:t>
            </a:r>
            <a:r>
              <a:rPr lang="en-US" sz="2000" dirty="0" err="1"/>
              <a:t>PyTorch</a:t>
            </a:r>
            <a:r>
              <a:rPr lang="en-US" sz="2000" dirty="0"/>
              <a:t>, NumPy, Pandas, </a:t>
            </a:r>
            <a:r>
              <a:rPr lang="en-US" sz="2000" dirty="0" err="1"/>
              <a:t>Jupyter</a:t>
            </a:r>
            <a:r>
              <a:rPr lang="en-US" sz="2000" dirty="0"/>
              <a:t> Notebook, VS Code, GitHub, Local file system/storage, JSON, CSV, Audio processing libraries, Image processing libraries</a:t>
            </a:r>
          </a:p>
          <a:p>
            <a:pPr marL="546100" lvl="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</a:t>
            </a:r>
            <a:r>
              <a:rPr lang="en-US" sz="2000" dirty="0"/>
              <a:t>Retrieval-Augmented Generation (RAG), Large Language Model (LLM), Embedding Model, FAISS Vector Search Engine, Speech-to-Text Model, Image Understanding Model</a:t>
            </a:r>
          </a:p>
          <a:p>
            <a:pPr marL="546100" lvl="0" algn="just">
              <a:lnSpc>
                <a:spcPct val="15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HARDWARES : </a:t>
            </a:r>
            <a:r>
              <a:rPr lang="en-US" sz="2000" dirty="0"/>
              <a:t>Laptop/PC, Microphone</a:t>
            </a:r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B95357C3-DFAF-5667-21D5-6396036E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40FFAF3C-C2E9-1A57-7B0B-08E8070CA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341B4716-A5D2-66B1-DF7C-2E0C844C42B0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E9A8AAAA-AC49-C9BE-C0DC-5CB4EE564079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4E462C59-EB1B-DB6F-15ED-BCBA646F2D3F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363ED-EBA2-0580-9115-ADC607087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2026"/>
            <a:ext cx="2195945" cy="43370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B87680-B193-5411-3052-3DD3EFA5E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350" y="1218959"/>
            <a:ext cx="2195945" cy="44200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DC2F1-3A68-3429-A99D-7BE715B63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501" y="1165901"/>
            <a:ext cx="2443299" cy="452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625A73D3-36C8-6269-0714-5C149EC0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4A3ECFFD-7D30-A7BD-3685-388B73C68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884734B5-00A5-C7E7-1580-ADDAD7AF1521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CBE3FAC9-82EF-100B-B2A3-97367034E4E2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2705FE4A-49A9-941F-9A2B-3269FFE43D26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10</a:t>
            </a:fld>
            <a:endParaRPr/>
          </a:p>
        </p:txBody>
      </p:sp>
      <p:pic>
        <p:nvPicPr>
          <p:cNvPr id="2" name="Image 12">
            <a:extLst>
              <a:ext uri="{FF2B5EF4-FFF2-40B4-BE49-F238E27FC236}">
                <a16:creationId xmlns:a16="http://schemas.microsoft.com/office/drawing/2014/main" id="{B5F32C73-A1AF-3A5F-644E-5DB9ADCACC4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1273" y="1330036"/>
            <a:ext cx="7481454" cy="442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4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C7FD5B82-6772-2203-587A-3CDF1F150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A47C45C9-8E05-69B4-E544-1B03AE3C03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6C813B3F-B24C-9274-0D97-4F9BF46E5111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743C254B-7924-2392-F2AB-8F786F08E2A1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F1ACA528-DA7E-8B3E-29A4-AB8ABBF8AC46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11</a:t>
            </a:fld>
            <a:endParaRPr/>
          </a:p>
        </p:txBody>
      </p:sp>
      <p:pic>
        <p:nvPicPr>
          <p:cNvPr id="2" name="Image 13">
            <a:extLst>
              <a:ext uri="{FF2B5EF4-FFF2-40B4-BE49-F238E27FC236}">
                <a16:creationId xmlns:a16="http://schemas.microsoft.com/office/drawing/2014/main" id="{1230D6C3-0060-6114-4FAA-13E853B9E1B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0101" y="1350818"/>
            <a:ext cx="7533408" cy="429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3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89BD0D69-7AE1-7FC1-C21D-B67EBB44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>
            <a:extLst>
              <a:ext uri="{FF2B5EF4-FFF2-40B4-BE49-F238E27FC236}">
                <a16:creationId xmlns:a16="http://schemas.microsoft.com/office/drawing/2014/main" id="{22201B52-97A0-8FBC-CA76-CEABBB310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1775"/>
            <a:ext cx="8229600" cy="678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Results and Inference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Google Shape;204;p25">
            <a:extLst>
              <a:ext uri="{FF2B5EF4-FFF2-40B4-BE49-F238E27FC236}">
                <a16:creationId xmlns:a16="http://schemas.microsoft.com/office/drawing/2014/main" id="{2A5C05F1-1166-5CE1-74F0-E0A7935D6959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205" name="Google Shape;205;p25">
            <a:extLst>
              <a:ext uri="{FF2B5EF4-FFF2-40B4-BE49-F238E27FC236}">
                <a16:creationId xmlns:a16="http://schemas.microsoft.com/office/drawing/2014/main" id="{FDF0D129-FDC9-4070-3B6B-FDC59AFA362B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/>
          </a:p>
        </p:txBody>
      </p:sp>
      <p:sp>
        <p:nvSpPr>
          <p:cNvPr id="206" name="Google Shape;206;p25">
            <a:extLst>
              <a:ext uri="{FF2B5EF4-FFF2-40B4-BE49-F238E27FC236}">
                <a16:creationId xmlns:a16="http://schemas.microsoft.com/office/drawing/2014/main" id="{0F494955-931A-2A54-D0B0-42F2F1874CE0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12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F2698-8ADD-2884-A645-204F8C38F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527" y="966502"/>
            <a:ext cx="2505484" cy="4924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E6FA93-3A18-89CA-6227-49D03ED7B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058" y="920311"/>
            <a:ext cx="2505484" cy="501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69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Achieved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53D23B-B2B5-466D-BCF5-3D69BEA3BA7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 Computer Science and Business Systems</a:t>
            </a:r>
          </a:p>
        </p:txBody>
      </p:sp>
      <p:sp>
        <p:nvSpPr>
          <p:cNvPr id="163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F95988-2E40-449C-8607-7162E358E01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b="1" dirty="0"/>
              <a:t>Improved Accuracy:</a:t>
            </a:r>
            <a:r>
              <a:rPr lang="en-US" sz="2000" dirty="0"/>
              <a:t> The RAG-based pipeline delivers significantly higher medical answer accuracy compared to standalone LLMs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Reliable Responses:</a:t>
            </a:r>
            <a:r>
              <a:rPr lang="en-US" sz="2000" dirty="0"/>
              <a:t> Answers stay consistent and fact-based because they are grounded in curated local and PubMed medical datasets.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Multi-Modal Capability:</a:t>
            </a:r>
            <a:r>
              <a:rPr lang="en-US" sz="2000" dirty="0"/>
              <a:t> The system successfully processes </a:t>
            </a:r>
            <a:r>
              <a:rPr lang="en-US" sz="2000" b="1" dirty="0"/>
              <a:t>voice, text, and medical images</a:t>
            </a:r>
            <a:r>
              <a:rPr lang="en-US" sz="2000" dirty="0"/>
              <a:t>, enabling a complete smart-health assistant.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User-Ready Prototype:</a:t>
            </a:r>
            <a:r>
              <a:rPr lang="en-US" sz="2000" dirty="0"/>
              <a:t> A fully functional end-to-end workflow combining speech recognition, retrieval, and generation has been implemented.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4E39C1-5C5B-D68A-BEAD-26C0E1DEF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Information Access: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FAISS indexing allows quick retrieval from thousands of medical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04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457200" y="2919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Expected Outcome (</a:t>
            </a:r>
            <a:r>
              <a:rPr lang="en-US" sz="4400" b="1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Publication</a:t>
            </a: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57200" y="1526388"/>
            <a:ext cx="8229600" cy="4277004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2400" dirty="0"/>
              <a:t>Advanced image-analysis and generation techniques successfully supported a previous study that was accepted at the </a:t>
            </a:r>
            <a:r>
              <a:rPr lang="en-US" sz="2400" b="1" dirty="0"/>
              <a:t>International Conference on Data Science &amp; Decision Systems (ICDDS 2025)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3FD3909-C922-029B-9D96-C7A7D355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FD588354-341A-37F6-8B9D-A40B514583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19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Expected Outcome (</a:t>
            </a:r>
            <a:r>
              <a:rPr lang="en-US" sz="4400" b="1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Publication</a:t>
            </a: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7">
            <a:extLst>
              <a:ext uri="{FF2B5EF4-FFF2-40B4-BE49-F238E27FC236}">
                <a16:creationId xmlns:a16="http://schemas.microsoft.com/office/drawing/2014/main" id="{7C1966F7-9FCC-D098-D36C-9D2248703B82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>
            <a:extLst>
              <a:ext uri="{FF2B5EF4-FFF2-40B4-BE49-F238E27FC236}">
                <a16:creationId xmlns:a16="http://schemas.microsoft.com/office/drawing/2014/main" id="{9BC902F0-F122-E410-0441-C7387C159DE0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>
            <a:extLst>
              <a:ext uri="{FF2B5EF4-FFF2-40B4-BE49-F238E27FC236}">
                <a16:creationId xmlns:a16="http://schemas.microsoft.com/office/drawing/2014/main" id="{D53D7455-BFD6-D601-DE62-2BD56C3CD018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0DA754-475E-7AAB-187E-E5EEBC22F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6388"/>
            <a:ext cx="8229600" cy="4277004"/>
          </a:xfrm>
        </p:spPr>
        <p:txBody>
          <a:bodyPr/>
          <a:lstStyle/>
          <a:p>
            <a:pPr marL="11430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3E7E39-D4A3-FC43-9B9C-64938E643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494" y="1431233"/>
            <a:ext cx="3475011" cy="529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2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6C09B2B-C767-334C-5A2C-79152032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>
            <a:extLst>
              <a:ext uri="{FF2B5EF4-FFF2-40B4-BE49-F238E27FC236}">
                <a16:creationId xmlns:a16="http://schemas.microsoft.com/office/drawing/2014/main" id="{B1847EC1-72B7-4984-4F3B-BE21ECD5C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19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Expected Outcome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7">
            <a:extLst>
              <a:ext uri="{FF2B5EF4-FFF2-40B4-BE49-F238E27FC236}">
                <a16:creationId xmlns:a16="http://schemas.microsoft.com/office/drawing/2014/main" id="{B4C2B2A8-C568-F843-E8CD-E77778932516}"/>
              </a:ext>
            </a:extLst>
          </p:cNvPr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>
            <a:extLst>
              <a:ext uri="{FF2B5EF4-FFF2-40B4-BE49-F238E27FC236}">
                <a16:creationId xmlns:a16="http://schemas.microsoft.com/office/drawing/2014/main" id="{74FEAFB9-CCCB-87A2-23B2-DBE72FFB5BBA}"/>
              </a:ext>
            </a:extLst>
          </p:cNvPr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>
            <a:extLst>
              <a:ext uri="{FF2B5EF4-FFF2-40B4-BE49-F238E27FC236}">
                <a16:creationId xmlns:a16="http://schemas.microsoft.com/office/drawing/2014/main" id="{6D33D9B1-6B55-3E64-53CC-07087E9C32CC}"/>
              </a:ext>
            </a:extLst>
          </p:cNvPr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0A0444-CC83-4845-9490-18716DBC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6388"/>
            <a:ext cx="8229600" cy="4277004"/>
          </a:xfrm>
        </p:spPr>
        <p:txBody>
          <a:bodyPr/>
          <a:lstStyle/>
          <a:p>
            <a:pPr marL="114300" indent="0" algn="just">
              <a:buNone/>
            </a:pPr>
            <a:r>
              <a:rPr lang="en-US" sz="2000" dirty="0"/>
              <a:t>Similar image-analysis and generation techniques were successfully applied in an earlier study accepted at the </a:t>
            </a:r>
            <a:r>
              <a:rPr lang="en-US" sz="2000" b="1" dirty="0"/>
              <a:t>IIIT Dharwad Research Conference (December 2025)</a:t>
            </a:r>
            <a:r>
              <a:rPr lang="en-US" sz="2000" dirty="0"/>
              <a:t>. Building on this foundation, the </a:t>
            </a:r>
            <a:r>
              <a:rPr lang="en-US" sz="2000" dirty="0" err="1"/>
              <a:t>MediCare</a:t>
            </a:r>
            <a:r>
              <a:rPr lang="en-US" sz="2000" dirty="0"/>
              <a:t> system will integrate advanced medical image understanding with a RAG-based retrieval pipeline to further improve diagnostic assistance and response accuracy. The enhanced model is planned for submission to the upcoming </a:t>
            </a:r>
            <a:r>
              <a:rPr lang="en-US" sz="2000" b="1" dirty="0"/>
              <a:t>IEEE International Conference on Artificial Intelligence in Healthcare (AICHC 2025)</a:t>
            </a:r>
            <a:r>
              <a:rPr lang="en-US" sz="2000" dirty="0"/>
              <a:t>, scheduled for </a:t>
            </a:r>
            <a:r>
              <a:rPr lang="en-US" sz="2000" b="1" dirty="0"/>
              <a:t>August 21–23, 2025</a:t>
            </a:r>
            <a:r>
              <a:rPr lang="en-US" sz="2000" dirty="0"/>
              <a:t>, providing an opportunity to contribute to emerging developments in AI-driven medical decision-support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902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Department of  Computer Science and Business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98989"/>
                </a:buClr>
                <a:buSzPts val="1200"/>
                <a:buFont typeface="Calibri"/>
                <a:buNone/>
              </a:p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7867A1F-A82A-376C-0E94-AE2EE455C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7048"/>
            <a:ext cx="8229600" cy="4525963"/>
          </a:xfrm>
        </p:spPr>
        <p:txBody>
          <a:bodyPr/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/>
              <a:t>Sahoo, A., </a:t>
            </a:r>
            <a:r>
              <a:rPr lang="en-US" sz="1600" dirty="0" err="1"/>
              <a:t>Pingua</a:t>
            </a:r>
            <a:r>
              <a:rPr lang="en-US" sz="1600" dirty="0"/>
              <a:t>, B., </a:t>
            </a:r>
            <a:r>
              <a:rPr lang="en-US" sz="1600" dirty="0" err="1"/>
              <a:t>Kandpal</a:t>
            </a:r>
            <a:r>
              <a:rPr lang="en-US" sz="1600" dirty="0"/>
              <a:t>, M., Murmu, D., </a:t>
            </a:r>
            <a:r>
              <a:rPr lang="en-US" sz="1600" dirty="0" err="1"/>
              <a:t>Rautaray</a:t>
            </a:r>
            <a:r>
              <a:rPr lang="en-US" sz="1600" dirty="0"/>
              <a:t>, J., Barik, R. K., &amp; Saikia, M. J. (2025). </a:t>
            </a:r>
            <a:r>
              <a:rPr lang="en-US" sz="1600" i="1" dirty="0"/>
              <a:t>Medical LLMs: Fine-Tuning vs. Retrieval-Augmented Generation</a:t>
            </a:r>
            <a:r>
              <a:rPr lang="en-US" sz="1600" dirty="0"/>
              <a:t>. </a:t>
            </a:r>
            <a:r>
              <a:rPr lang="en-US" sz="1600" i="1" dirty="0"/>
              <a:t>Bioengineering, 12</a:t>
            </a:r>
            <a:r>
              <a:rPr lang="en-US" sz="1600" dirty="0"/>
              <a:t>(7), 687. </a:t>
            </a:r>
            <a:r>
              <a:rPr lang="en-US" sz="1600" dirty="0">
                <a:hlinkClick r:id="rId3"/>
              </a:rPr>
              <a:t>https://doi.org/10.3390/bioengineering12070687</a:t>
            </a:r>
            <a:endParaRPr lang="en-US" sz="1600" dirty="0"/>
          </a:p>
          <a:p>
            <a:pPr marL="114300" indent="0" algn="just">
              <a:buNone/>
            </a:pPr>
            <a:endParaRPr lang="en-US" sz="16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/>
              <a:t>Wu, J., Zhu, J., Qi, Y., Chen, J., Xu, M., </a:t>
            </a:r>
            <a:r>
              <a:rPr lang="en-US" sz="1600" dirty="0" err="1"/>
              <a:t>Menolascina</a:t>
            </a:r>
            <a:r>
              <a:rPr lang="en-US" sz="1600" dirty="0"/>
              <a:t>, F., Jin, Y., &amp; Grau, V. (2025). </a:t>
            </a:r>
            <a:r>
              <a:rPr lang="en-US" sz="1600" i="1" dirty="0"/>
              <a:t>Medical Graph RAG: Evidence-based Medical Large Language Model via Graph Retrieval-Augmented Generation</a:t>
            </a:r>
            <a:r>
              <a:rPr lang="en-US" sz="1600" dirty="0"/>
              <a:t>. In </a:t>
            </a:r>
            <a:r>
              <a:rPr lang="en-US" sz="1600" i="1" dirty="0"/>
              <a:t>Proceedings of the 63rd Annual Meeting of the Association for Computational Linguistics (ACL)</a:t>
            </a:r>
            <a:r>
              <a:rPr lang="en-US" sz="1600" dirty="0"/>
              <a:t>, 28443–28467. </a:t>
            </a:r>
            <a:r>
              <a:rPr lang="en-US" sz="1600" dirty="0">
                <a:hlinkClick r:id="rId4"/>
              </a:rPr>
              <a:t>https://doi.org/10.18653/v1/2025.acl-long.138</a:t>
            </a:r>
            <a:endParaRPr lang="en-US" sz="1600" dirty="0"/>
          </a:p>
          <a:p>
            <a:pPr marL="114300" indent="0" algn="just">
              <a:buNone/>
            </a:pPr>
            <a:endParaRPr lang="en-US" sz="16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/>
              <a:t>Chen, Z., Liao, Y., Jiang, S., Zhu, Z., Li, H., Wang, Y., … Jin, Y. (2025). </a:t>
            </a:r>
            <a:r>
              <a:rPr lang="en-US" sz="1600" i="1" dirty="0" err="1"/>
              <a:t>HeteroRAG</a:t>
            </a:r>
            <a:r>
              <a:rPr lang="en-US" sz="1600" i="1" dirty="0"/>
              <a:t>: A Heterogeneous Retrieval-Augmented Generation Framework for Medical Vision Language Tasks</a:t>
            </a:r>
            <a:r>
              <a:rPr lang="en-US" sz="1600" dirty="0"/>
              <a:t>. </a:t>
            </a:r>
            <a:r>
              <a:rPr lang="en-US" sz="1600" dirty="0" err="1"/>
              <a:t>arXiv</a:t>
            </a:r>
            <a:r>
              <a:rPr lang="en-US" sz="1600" dirty="0"/>
              <a:t>. </a:t>
            </a:r>
            <a:r>
              <a:rPr lang="en-US" sz="1600" dirty="0">
                <a:hlinkClick r:id="rId5"/>
              </a:rPr>
              <a:t>https://arxiv.org/abs/2508.12778</a:t>
            </a:r>
            <a:endParaRPr lang="en-US" sz="1600" dirty="0"/>
          </a:p>
          <a:p>
            <a:pPr marL="114300" indent="0" algn="just">
              <a:buNone/>
            </a:pPr>
            <a:endParaRPr lang="en-US" sz="16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b="1" dirty="0"/>
              <a:t>Lewis, P., Perez, E., </a:t>
            </a:r>
            <a:r>
              <a:rPr lang="en-US" sz="1600" b="1" dirty="0" err="1"/>
              <a:t>Piktus</a:t>
            </a:r>
            <a:r>
              <a:rPr lang="en-US" sz="1600" b="1" dirty="0"/>
              <a:t>, A., Petroni, F., </a:t>
            </a:r>
            <a:r>
              <a:rPr lang="en-US" sz="1600" b="1" dirty="0" err="1"/>
              <a:t>Karpukhin</a:t>
            </a:r>
            <a:r>
              <a:rPr lang="en-US" sz="1600" b="1" dirty="0"/>
              <a:t>, V., Goyal, N., … Riedel, S. (2020).</a:t>
            </a:r>
            <a:br>
              <a:rPr lang="en-US" sz="1600" dirty="0"/>
            </a:br>
            <a:r>
              <a:rPr lang="en-US" sz="1600" dirty="0"/>
              <a:t>Retrieval-augmented generation for knowledge-intensive NLP tasks. </a:t>
            </a:r>
            <a:r>
              <a:rPr lang="en-US" sz="1600" i="1" dirty="0"/>
              <a:t>Advances in Neural Information Processing Systems, 33</a:t>
            </a:r>
            <a:r>
              <a:rPr lang="en-US" sz="1600" dirty="0"/>
              <a:t>, 9459–9474. https://arxiv.org/abs/2005.11401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1356</Words>
  <Application>Microsoft Office PowerPoint</Application>
  <PresentationFormat>On-screen Show (4:3)</PresentationFormat>
  <Paragraphs>133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1_Office Theme</vt:lpstr>
      <vt:lpstr>Medicare -AI based Medical Assistant </vt:lpstr>
      <vt:lpstr>Abstract</vt:lpstr>
      <vt:lpstr>Problem Statement</vt:lpstr>
      <vt:lpstr>Objectives</vt:lpstr>
      <vt:lpstr>Module description </vt:lpstr>
      <vt:lpstr>Module description </vt:lpstr>
      <vt:lpstr>Architecture Diagram</vt:lpstr>
      <vt:lpstr>Tools and Technologies used</vt:lpstr>
      <vt:lpstr>Results and Inference</vt:lpstr>
      <vt:lpstr>Results and Inference</vt:lpstr>
      <vt:lpstr>Results and Inference</vt:lpstr>
      <vt:lpstr>Results and Inference</vt:lpstr>
      <vt:lpstr>Outcomes Achieved</vt:lpstr>
      <vt:lpstr>Expected Outcome (Publication)</vt:lpstr>
      <vt:lpstr>Expected Outcome (Publication)</vt:lpstr>
      <vt:lpstr>Expected Outcome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Deep Learning Architecture for Feature Fusion and  Spatiotemporal Air Quality Forecasting</dc:title>
  <dc:creator>Balaji Arighant</dc:creator>
  <cp:lastModifiedBy>gideon sam</cp:lastModifiedBy>
  <cp:revision>144</cp:revision>
  <dcterms:modified xsi:type="dcterms:W3CDTF">2025-11-23T17:04:48Z</dcterms:modified>
</cp:coreProperties>
</file>